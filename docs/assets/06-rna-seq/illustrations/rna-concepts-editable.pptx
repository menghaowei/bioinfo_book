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c9b64550e84f2f" /><Relationship Type="http://schemas.openxmlformats.org/officeDocument/2006/relationships/extended-properties" Target="/docProps/app.xml" Id="Ra3eb8435ca284eec" /><Relationship Type="http://schemas.openxmlformats.org/officeDocument/2006/relationships/officeDocument" Target="/ppt/presentation.xml" Id="Rb033479d035f4f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b65d5a33cd4647"/>
  </p:sldMasterIdLst>
  <p:notesMasterIdLst>
    <p:notesMasterId xmlns:r="http://schemas.openxmlformats.org/officeDocument/2006/relationships" r:id="R982457d90c9d4b97"/>
  </p:notesMasterIdLst>
  <p:sldIdLst>
    <p:sldId xmlns:r="http://schemas.openxmlformats.org/officeDocument/2006/relationships" id="256" r:id="Rec6912670b124363"/>
    <p:sldId xmlns:r="http://schemas.openxmlformats.org/officeDocument/2006/relationships" id="257" r:id="R5ee609d20d7e4117"/>
  </p:sldIdLst>
  <p:sldSz cx="11430000" cy="12001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c3bf01d12746a9" /><Relationship Type="http://schemas.openxmlformats.org/officeDocument/2006/relationships/slideMaster" Target="/ppt/slideMasters/slideMaster1.xml" Id="R46b65d5a33cd4647" /><Relationship Type="http://schemas.openxmlformats.org/officeDocument/2006/relationships/notesMaster" Target="/ppt/notesMasters/notesMaster1.xml" Id="R982457d90c9d4b97" /><Relationship Type="http://schemas.openxmlformats.org/officeDocument/2006/relationships/presProps" Target="/ppt/presProps.xml" Id="R507050745b4b4993" /><Relationship Type="http://schemas.openxmlformats.org/officeDocument/2006/relationships/tableStyles" Target="/ppt/tableStyles.xml" Id="R008c1ac0373e46d9" /><Relationship Type="http://schemas.openxmlformats.org/officeDocument/2006/relationships/slide" Target="/ppt/slides/slide1.xml" Id="Rec6912670b124363" /><Relationship Type="http://schemas.openxmlformats.org/officeDocument/2006/relationships/slide" Target="/ppt/slides/slide2.xml" Id="R5ee609d20d7e41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3222669cf64b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c157697a5674acf" /><Relationship Type="http://schemas.openxmlformats.org/officeDocument/2006/relationships/notesMaster" Target="/ppt/notesMasters/notesMaster1.xml" Id="R42c05bccace644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f7b5099e794e17" /><Relationship Type="http://schemas.openxmlformats.org/officeDocument/2006/relationships/notesMaster" Target="/ppt/notesMasters/notesMaster1.xml" Id="R4c1907dada184b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 5.1。生物形象由内置 image_gen 生成，标签与关系独立排版。插画为示意，不代表精确分子尺度或每一种 RNA 的全部功能。mRNA 作为蛋白编码模板；snRNA 参与剪接；rRNA 为核糖体组成与催化核心，tRNA 参与氨基酸递送；其他 RNA 不构成同一条必经线性路径。参考：https://www.genome.gov/about-genomics/educational-resources/fact-sheets/ribonucleic-acid-fact-sheet ; https://openstax.org/books/microbiology/pages/10-3-structure-and-function-of-rna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 5.2。细胞形态由内置 image_gen 生成，三组丰度图为原生可编辑 PowerPoint 图表。示意矩阵按神经、肌肉、上皮分别为 [3,5,1,1]、[3,1,5,1]、[3,1,1,5]。每个类别在三组都非零，RNA A 同为 3；A–D 不对应真实基因、数值不是测量值。细胞大小不按比例，肌肉图为单核梭形形态的示意。参考：https://www.genome.gov/about-genomics/educational-resources/fact-sheets/ribonucleic-acid-fact-sheet 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fc1a63b7764a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630526e18c34a2a" /><Relationship Type="http://schemas.openxmlformats.org/officeDocument/2006/relationships/slideLayout" Target="/ppt/slideLayouts/slideLayout1.xml" Id="R008b6ca627b443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8b6ca627b443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a690d08c54d56" /><Relationship Type="http://schemas.openxmlformats.org/officeDocument/2006/relationships/image" Target="/ppt/media/image.png" Id="R4347e63b7eaf4cd6" /><Relationship Type="http://schemas.openxmlformats.org/officeDocument/2006/relationships/notesSlide" Target="/ppt/notesSlides/notesSlide1.xml" Id="Ra2b51df1639e4b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cd7abd53648de" /><Relationship Type="http://schemas.openxmlformats.org/officeDocument/2006/relationships/image" Target="/ppt/media/image2.png" Id="Ra74625026c194ea1" /><Relationship Type="http://schemas.openxmlformats.org/officeDocument/2006/relationships/chart" Target="/ppt/slides/charts/chart1.xml" Id="R70cb70eae7164f83" /><Relationship Type="http://schemas.openxmlformats.org/officeDocument/2006/relationships/chart" Target="/ppt/slides/charts/chart2.xml" Id="Rd4a1efd121d54d3f" /><Relationship Type="http://schemas.openxmlformats.org/officeDocument/2006/relationships/chart" Target="/ppt/slides/charts/chart3.xml" Id="Rb7d0be393cc84a7a" /><Relationship Type="http://schemas.openxmlformats.org/officeDocument/2006/relationships/notesSlide" Target="/ppt/notesSlides/notesSlide2.xml" Id="R2b6a9e8e137e407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神经细胞</c:v>
          </c:tx>
          <c:spPr>
            <a:solidFill xmlns:a="http://schemas.openxmlformats.org/drawingml/2006/main">
              <a:srgbClr val="186254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RNA D</c:v>
                </c:pt>
                <c:pt idx="1">
                  <c:v>RNA C</c:v>
                </c:pt>
                <c:pt idx="2">
                  <c:v>RNA B</c:v>
                </c:pt>
                <c:pt idx="3">
                  <c:v>RNA A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6254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5.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B1C3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肌肉细胞</c:v>
          </c:tx>
          <c:spPr>
            <a:solidFill xmlns:a="http://schemas.openxmlformats.org/drawingml/2006/main">
              <a:srgbClr val="186254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RNA D</c:v>
                </c:pt>
                <c:pt idx="1">
                  <c:v>RNA C</c:v>
                </c:pt>
                <c:pt idx="2">
                  <c:v>RNA B</c:v>
                </c:pt>
                <c:pt idx="3">
                  <c:v>RNA A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</c:v>
                </c:pt>
                <c:pt idx="1">
                  <c:v>5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6254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5.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B1C3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上皮细胞</c:v>
          </c:tx>
          <c:spPr>
            <a:solidFill xmlns:a="http://schemas.openxmlformats.org/drawingml/2006/main">
              <a:srgbClr val="186254"/>
            </a:solidFill>
            <a:ln xmlns:a="http://schemas.openxmlformats.org/drawingml/2006/main" w="0">
              <a:noFill/>
            </a:ln>
          </c:spPr>
          <c:cat>
            <c:strRef>
              <c:f>'Chart Data'!$A$2:$A$5</c:f>
              <c:strCache>
                <c:ptCount val="4"/>
                <c:pt idx="0">
                  <c:v>RNA D</c:v>
                </c:pt>
                <c:pt idx="1">
                  <c:v>RNA C</c:v>
                </c:pt>
                <c:pt idx="2">
                  <c:v>RNA B</c:v>
                </c:pt>
                <c:pt idx="3">
                  <c:v>RNA A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5</c:v>
                </c:pt>
                <c:pt idx="1">
                  <c:v>1</c:v>
                </c:pt>
                <c:pt idx="2">
                  <c:v>1</c:v>
                </c:pt>
                <c:pt idx="3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86254"/>
                  </a:solidFill>
                  <a:latin typeface="Hiragino Sans GB"/>
                  <a:ea typeface="Hiragino Sans GB"/>
                  <a:cs typeface="Hiragino Sans GB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nextTo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72768"/>
      </c:catAx>
      <c:valAx>
        <c:axId val="48672768"/>
        <c:scaling>
          <c:orientation val="minMax"/>
          <c:max val="5.5"/>
          <c:min val="0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B1C3BE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RNA 的主要类型与分工">
            <a:extLst xmlns:a="http://schemas.openxmlformats.org/drawingml/2006/main">
              <a:ext uri="{FF2B5EF4-FFF2-40B4-BE49-F238E27FC236}">
                <a16:creationId xmlns:a16="http://schemas.microsoft.com/office/drawing/2014/main" id="{B522D459-B5E2-40FD-9806-7B7575DE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"/>
            <a:ext cx="10382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RNA 的主要类型与分工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7e63b7eaf4cd6"/>
          <a:stretch xmlns:a="http://schemas.openxmlformats.org/drawingml/2006/main"/>
        </p:blipFill>
        <p:spPr>
          <a:xfrm xmlns:a="http://schemas.openxmlformats.org/drawingml/2006/main">
            <a:off x="142875" y="657225"/>
            <a:ext cx="11144250" cy="11144250"/>
          </a:xfrm>
          <a:prstGeom xmlns:a="http://schemas.openxmlformats.org/drawingml/2006/main" prst="rect">
            <a:avLst/>
          </a:prstGeom>
        </p:spPr>
      </p:pic>
      <p:sp>
        <p:nvSpPr>
          <p:cNvPr id="3" name="细胞核">
            <a:extLst xmlns:a="http://schemas.openxmlformats.org/drawingml/2006/main">
              <a:ext uri="{FF2B5EF4-FFF2-40B4-BE49-F238E27FC236}">
                <a16:creationId xmlns:a16="http://schemas.microsoft.com/office/drawing/2014/main" id="{B8748560-4278-47FB-8236-53406E98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4668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细胞核</a:t>
            </a:r>
          </a:p>
        </p:txBody>
      </p:sp>
      <p:sp>
        <p:nvSpPr>
          <p:cNvPr id="4" name="细胞质">
            <a:extLst xmlns:a="http://schemas.openxmlformats.org/drawingml/2006/main">
              <a:ext uri="{FF2B5EF4-FFF2-40B4-BE49-F238E27FC236}">
                <a16:creationId xmlns:a16="http://schemas.microsoft.com/office/drawing/2014/main" id="{62ECB6CC-1B49-46AA-B844-F8A209E5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343025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细胞质</a:t>
            </a:r>
          </a:p>
        </p:txBody>
      </p:sp>
      <p:sp>
        <p:nvSpPr>
          <p:cNvPr id="5" name="DNA">
            <a:extLst xmlns:a="http://schemas.openxmlformats.org/drawingml/2006/main">
              <a:ext uri="{FF2B5EF4-FFF2-40B4-BE49-F238E27FC236}">
                <a16:creationId xmlns:a16="http://schemas.microsoft.com/office/drawing/2014/main" id="{BCF48484-7109-4511-8DF4-ABE6ACAF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81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DNA</a:t>
            </a:r>
          </a:p>
        </p:txBody>
      </p:sp>
      <p:sp>
        <p:nvSpPr>
          <p:cNvPr id="6" name="Arrow anchor">
            <a:extLst xmlns:a="http://schemas.openxmlformats.org/drawingml/2006/main">
              <a:ext uri="{FF2B5EF4-FFF2-40B4-BE49-F238E27FC236}">
                <a16:creationId xmlns:a16="http://schemas.microsoft.com/office/drawing/2014/main" id="{57166244-D673-48FB-8FC2-DDEF2A3C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31765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Arrow anchor">
            <a:extLst xmlns:a="http://schemas.openxmlformats.org/drawingml/2006/main">
              <a:ext uri="{FF2B5EF4-FFF2-40B4-BE49-F238E27FC236}">
                <a16:creationId xmlns:a16="http://schemas.microsoft.com/office/drawing/2014/main" id="{68C684A9-808D-47F7-8FE9-94A5DCA1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988" y="348138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" name="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3333751" y="3186113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86254"/>
            </a:solidFill>
            <a:tailEnd type="triangle" w="med" len="med"/>
          </a:ln>
        </p:spPr>
      </p:cxnSp>
      <p:sp>
        <p:nvSpPr>
          <p:cNvPr id="9" name="转录">
            <a:extLst xmlns:a="http://schemas.openxmlformats.org/drawingml/2006/main">
              <a:ext uri="{FF2B5EF4-FFF2-40B4-BE49-F238E27FC236}">
                <a16:creationId xmlns:a16="http://schemas.microsoft.com/office/drawing/2014/main" id="{46905E57-915C-4ED4-933A-3DA7BD65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43250"/>
            <a:ext cx="1047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转录</a:t>
            </a:r>
          </a:p>
        </p:txBody>
      </p:sp>
      <p:sp>
        <p:nvSpPr>
          <p:cNvPr id="10" name="前体 mRNA">
            <a:extLst xmlns:a="http://schemas.openxmlformats.org/drawingml/2006/main">
              <a:ext uri="{FF2B5EF4-FFF2-40B4-BE49-F238E27FC236}">
                <a16:creationId xmlns:a16="http://schemas.microsoft.com/office/drawing/2014/main" id="{CEB98FCA-914E-438A-BF7C-4579B2C5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386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前体 mRNA</a:t>
            </a:r>
          </a:p>
        </p:txBody>
      </p:sp>
      <p:sp>
        <p:nvSpPr>
          <p:cNvPr id="11" name="Arrow anchor">
            <a:extLst xmlns:a="http://schemas.openxmlformats.org/drawingml/2006/main">
              <a:ext uri="{FF2B5EF4-FFF2-40B4-BE49-F238E27FC236}">
                <a16:creationId xmlns:a16="http://schemas.microsoft.com/office/drawing/2014/main" id="{9A7F93F2-AEF5-4231-90E2-3BF49E37B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013" y="39576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rrow anchor">
            <a:extLst xmlns:a="http://schemas.openxmlformats.org/drawingml/2006/main">
              <a:ext uri="{FF2B5EF4-FFF2-40B4-BE49-F238E27FC236}">
                <a16:creationId xmlns:a16="http://schemas.microsoft.com/office/drawing/2014/main" id="{99B094BD-4C4A-4127-9480-F12F0CAE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2013" y="43005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4676776" y="3967163"/>
            <a:ext cx="0" cy="33337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86254"/>
            </a:solidFill>
            <a:tailEnd type="triangle" w="med" len="med"/>
          </a:ln>
        </p:spPr>
      </p:cxnSp>
      <p:sp>
        <p:nvSpPr>
          <p:cNvPr id="14" name="剪接">
            <a:extLst xmlns:a="http://schemas.openxmlformats.org/drawingml/2006/main">
              <a:ext uri="{FF2B5EF4-FFF2-40B4-BE49-F238E27FC236}">
                <a16:creationId xmlns:a16="http://schemas.microsoft.com/office/drawing/2014/main" id="{A5BCAFE3-7D34-47B9-B28A-8B467073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9528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剪接</a:t>
            </a:r>
          </a:p>
        </p:txBody>
      </p:sp>
      <p:sp>
        <p:nvSpPr>
          <p:cNvPr id="15" name="剪接体">
            <a:extLst xmlns:a="http://schemas.openxmlformats.org/drawingml/2006/main">
              <a:ext uri="{FF2B5EF4-FFF2-40B4-BE49-F238E27FC236}">
                <a16:creationId xmlns:a16="http://schemas.microsoft.com/office/drawing/2014/main" id="{6DE3F630-CFD4-487D-A0DE-FE026959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482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剪接体</a:t>
            </a:r>
          </a:p>
        </p:txBody>
      </p:sp>
      <p:sp>
        <p:nvSpPr>
          <p:cNvPr id="16" name="含 snRNA">
            <a:extLst xmlns:a="http://schemas.openxmlformats.org/drawingml/2006/main">
              <a:ext uri="{FF2B5EF4-FFF2-40B4-BE49-F238E27FC236}">
                <a16:creationId xmlns:a16="http://schemas.microsoft.com/office/drawing/2014/main" id="{9C0A7C87-E4A1-4517-BDC3-60D12019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9911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rPr>
              <a:t>含 snRNA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7EA67B-0429-4BF6-B3C6-D082C2AD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124075" y="4772025"/>
            <a:ext cx="5238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86254"/>
            </a:solidFill>
          </a:ln>
        </p:spPr>
      </p:sp>
      <p:sp>
        <p:nvSpPr>
          <p:cNvPr id="18" name="成熟 mRNA">
            <a:extLst xmlns:a="http://schemas.openxmlformats.org/drawingml/2006/main">
              <a:ext uri="{FF2B5EF4-FFF2-40B4-BE49-F238E27FC236}">
                <a16:creationId xmlns:a16="http://schemas.microsoft.com/office/drawing/2014/main" id="{01DDEBFA-C6BF-49A1-9DE6-BADF604B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6143625"/>
            <a:ext cx="228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成熟 mRNA</a:t>
            </a:r>
          </a:p>
        </p:txBody>
      </p:sp>
      <p:sp>
        <p:nvSpPr>
          <p:cNvPr id="19" name="Arrow anchor">
            <a:extLst xmlns:a="http://schemas.openxmlformats.org/drawingml/2006/main">
              <a:ext uri="{FF2B5EF4-FFF2-40B4-BE49-F238E27FC236}">
                <a16:creationId xmlns:a16="http://schemas.microsoft.com/office/drawing/2014/main" id="{55E9B930-9350-4677-9C6A-83E7563B8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8763" y="6424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Arrow anchor">
            <a:extLst xmlns:a="http://schemas.openxmlformats.org/drawingml/2006/main">
              <a:ext uri="{FF2B5EF4-FFF2-40B4-BE49-F238E27FC236}">
                <a16:creationId xmlns:a16="http://schemas.microsoft.com/office/drawing/2014/main" id="{1DAE5BA6-7A43-442C-9899-88603156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4163" y="642461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6" name=""/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348288" y="6429376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86254"/>
            </a:solidFill>
            <a:tailEnd type="triangle" w="med" len="med"/>
          </a:ln>
        </p:spPr>
      </p:cxnSp>
      <p:sp>
        <p:nvSpPr>
          <p:cNvPr id="22" name="输出">
            <a:extLst xmlns:a="http://schemas.openxmlformats.org/drawingml/2006/main">
              <a:ext uri="{FF2B5EF4-FFF2-40B4-BE49-F238E27FC236}">
                <a16:creationId xmlns:a16="http://schemas.microsoft.com/office/drawing/2014/main" id="{DCEBE7E9-2DD4-49CE-BD0C-35709C26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6667500"/>
            <a:ext cx="1095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输出</a:t>
            </a:r>
          </a:p>
        </p:txBody>
      </p:sp>
      <p:sp>
        <p:nvSpPr>
          <p:cNvPr id="23" name="蛋白质">
            <a:extLst xmlns:a="http://schemas.openxmlformats.org/drawingml/2006/main">
              <a:ext uri="{FF2B5EF4-FFF2-40B4-BE49-F238E27FC236}">
                <a16:creationId xmlns:a16="http://schemas.microsoft.com/office/drawing/2014/main" id="{05619BD7-75B8-496C-AA3B-74F5A1DE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09800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蛋白质</a:t>
            </a:r>
          </a:p>
        </p:txBody>
      </p:sp>
      <p:sp>
        <p:nvSpPr>
          <p:cNvPr id="24" name="tRNA">
            <a:extLst xmlns:a="http://schemas.openxmlformats.org/drawingml/2006/main">
              <a:ext uri="{FF2B5EF4-FFF2-40B4-BE49-F238E27FC236}">
                <a16:creationId xmlns:a16="http://schemas.microsoft.com/office/drawing/2014/main" id="{A7930BE6-98F3-4B29-8678-BFB8CB7B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400550"/>
            <a:ext cx="123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tRNA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0967C7-C194-4451-8BDF-B2F6FD3A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20200" y="4648200"/>
            <a:ext cx="62865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86254"/>
            </a:solidFill>
          </a:ln>
        </p:spPr>
      </p:sp>
      <p:sp>
        <p:nvSpPr>
          <p:cNvPr id="26" name="翻译">
            <a:extLst xmlns:a="http://schemas.openxmlformats.org/drawingml/2006/main">
              <a:ext uri="{FF2B5EF4-FFF2-40B4-BE49-F238E27FC236}">
                <a16:creationId xmlns:a16="http://schemas.microsoft.com/office/drawing/2014/main" id="{8B6BB30F-A347-43D2-9A9D-CF8471C4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005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翻译</a:t>
            </a:r>
          </a:p>
        </p:txBody>
      </p:sp>
      <p:sp>
        <p:nvSpPr>
          <p:cNvPr id="27" name="核糖体（含 rRNA）">
            <a:extLst xmlns:a="http://schemas.openxmlformats.org/drawingml/2006/main">
              <a:ext uri="{FF2B5EF4-FFF2-40B4-BE49-F238E27FC236}">
                <a16:creationId xmlns:a16="http://schemas.microsoft.com/office/drawing/2014/main" id="{44CF6915-9110-4848-AA2C-91164EE7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76581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核糖体（含 rRNA）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C94967-9A85-4A57-88C2-7794F456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39175" y="716280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86254"/>
            </a:solidFill>
          </a:ln>
        </p:spPr>
      </p:sp>
      <p:sp>
        <p:nvSpPr>
          <p:cNvPr id="29" name="miRNA / siRNA">
            <a:extLst xmlns:a="http://schemas.openxmlformats.org/drawingml/2006/main">
              <a:ext uri="{FF2B5EF4-FFF2-40B4-BE49-F238E27FC236}">
                <a16:creationId xmlns:a16="http://schemas.microsoft.com/office/drawing/2014/main" id="{5BFCEA5A-B6BB-4F20-9400-85314619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5727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miRNA / siRNA</a:t>
            </a:r>
          </a:p>
        </p:txBody>
      </p:sp>
      <p:sp>
        <p:nvSpPr>
          <p:cNvPr id="30" name="识别靶 RNA，影响稳定性或翻译">
            <a:extLst xmlns:a="http://schemas.openxmlformats.org/drawingml/2006/main">
              <a:ext uri="{FF2B5EF4-FFF2-40B4-BE49-F238E27FC236}">
                <a16:creationId xmlns:a16="http://schemas.microsoft.com/office/drawing/2014/main" id="{324EE439-32A7-405B-BC7C-232AAEAE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10013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rPr>
              <a:t>识别靶 RNA，影响稳定性或翻译</a:t>
            </a:r>
          </a:p>
        </p:txBody>
      </p:sp>
      <p:sp>
        <p:nvSpPr>
          <p:cNvPr id="31" name="lncRNA">
            <a:extLst xmlns:a="http://schemas.openxmlformats.org/drawingml/2006/main">
              <a:ext uri="{FF2B5EF4-FFF2-40B4-BE49-F238E27FC236}">
                <a16:creationId xmlns:a16="http://schemas.microsoft.com/office/drawing/2014/main" id="{5DE5FF18-F9FD-4CBB-8228-D635EA38E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0572750"/>
            <a:ext cx="3381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lncRNA</a:t>
            </a:r>
          </a:p>
        </p:txBody>
      </p:sp>
      <p:sp>
        <p:nvSpPr>
          <p:cNvPr id="32" name="长链，作用与位置多样">
            <a:extLst xmlns:a="http://schemas.openxmlformats.org/drawingml/2006/main">
              <a:ext uri="{FF2B5EF4-FFF2-40B4-BE49-F238E27FC236}">
                <a16:creationId xmlns:a16="http://schemas.microsoft.com/office/drawing/2014/main" id="{3B60C521-9590-4F0E-B193-F7EA0850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1001375"/>
            <a:ext cx="338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rPr>
              <a:t>长链，作用与位置多样</a:t>
            </a:r>
          </a:p>
        </p:txBody>
      </p:sp>
      <p:sp>
        <p:nvSpPr>
          <p:cNvPr id="33" name="circRNA">
            <a:extLst xmlns:a="http://schemas.openxmlformats.org/drawingml/2006/main">
              <a:ext uri="{FF2B5EF4-FFF2-40B4-BE49-F238E27FC236}">
                <a16:creationId xmlns:a16="http://schemas.microsoft.com/office/drawing/2014/main" id="{226731C8-8953-4181-80DC-F1557E857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572750"/>
            <a:ext cx="3286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circRNA</a:t>
            </a:r>
          </a:p>
        </p:txBody>
      </p:sp>
      <p:sp>
        <p:nvSpPr>
          <p:cNvPr id="34" name="首尾相连的环状 RNA">
            <a:extLst xmlns:a="http://schemas.openxmlformats.org/drawingml/2006/main">
              <a:ext uri="{FF2B5EF4-FFF2-40B4-BE49-F238E27FC236}">
                <a16:creationId xmlns:a16="http://schemas.microsoft.com/office/drawing/2014/main" id="{07A024F6-F602-4CD4-A4E1-70A4F8AD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001375"/>
            <a:ext cx="328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rPr>
              <a:t>首尾相连的环状 RNA</a:t>
            </a:r>
          </a:p>
        </p:txBody>
      </p:sp>
      <p:sp>
        <p:nvSpPr>
          <p:cNvPr id="35" name="代表性形态与作用场景；具体 RNA 的功能需分别判断。">
            <a:extLst xmlns:a="http://schemas.openxmlformats.org/drawingml/2006/main">
              <a:ext uri="{FF2B5EF4-FFF2-40B4-BE49-F238E27FC236}">
                <a16:creationId xmlns:a16="http://schemas.microsoft.com/office/drawing/2014/main" id="{7D682709-EA7A-4184-B061-518ECF4C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544300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E72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5E726D"/>
                </a:solidFill>
                <a:latin typeface="Hiragino Sans GB"/>
                <a:ea typeface="Hiragino Sans GB"/>
                <a:cs typeface="Hiragino Sans GB"/>
              </a:rPr>
              <a:t>代表性形态与作用场景；具体 RNA 的功能需分别判断。</a:t>
            </a:r>
          </a:p>
        </p:txBody>
      </p:sp>
    </p:spTree>
    <p:extLst>
      <p:ext uri="{BB962C8B-B14F-4D97-AF65-F5344CB8AC3E}">
        <p14:creationId xmlns:p14="http://schemas.microsoft.com/office/powerpoint/2010/main" val="21217641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相同基因组，不同的 RNA 丰度">
            <a:extLst xmlns:a="http://schemas.openxmlformats.org/drawingml/2006/main">
              <a:ext uri="{FF2B5EF4-FFF2-40B4-BE49-F238E27FC236}">
                <a16:creationId xmlns:a16="http://schemas.microsoft.com/office/drawing/2014/main" id="{50C41B70-53E9-40F8-BF58-358C25D2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714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7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相同基因组，不同的 RNA 丰度</a:t>
            </a:r>
          </a:p>
        </p:txBody>
      </p:sp>
      <p:sp>
        <p:nvSpPr>
          <p:cNvPr id="2" name="同一个体的三类细胞，保留同一组示意基因 A–D">
            <a:extLst xmlns:a="http://schemas.openxmlformats.org/drawingml/2006/main">
              <a:ext uri="{FF2B5EF4-FFF2-40B4-BE49-F238E27FC236}">
                <a16:creationId xmlns:a16="http://schemas.microsoft.com/office/drawing/2014/main" id="{78CB04AB-B503-428F-998A-0DD270DA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83E39"/>
                </a:solidFill>
                <a:latin typeface="Hiragino Sans GB"/>
                <a:ea typeface="Hiragino Sans GB"/>
                <a:cs typeface="Hiragino Sans GB"/>
              </a:rPr>
              <a:t>同一个体的三类细胞，保留同一组示意基因 A–D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4625026c194ea1"/>
          <a:stretch xmlns:a="http://schemas.openxmlformats.org/drawingml/2006/main"/>
        </p:blipFill>
        <p:spPr>
          <a:xfrm xmlns:a="http://schemas.openxmlformats.org/drawingml/2006/main">
            <a:off x="190500" y="1649413"/>
            <a:ext cx="11049000" cy="3683000"/>
          </a:xfrm>
          <a:prstGeom xmlns:a="http://schemas.openxmlformats.org/drawingml/2006/main" prst="rect">
            <a:avLst/>
          </a:prstGeom>
        </p:spPr>
      </p:pic>
      <p:sp>
        <p:nvSpPr>
          <p:cNvPr id="4" name="神经细胞">
            <a:extLst xmlns:a="http://schemas.openxmlformats.org/drawingml/2006/main">
              <a:ext uri="{FF2B5EF4-FFF2-40B4-BE49-F238E27FC236}">
                <a16:creationId xmlns:a16="http://schemas.microsoft.com/office/drawing/2014/main" id="{1C1245F8-7E00-4D00-81A2-89A33CCA9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神经细胞</a:t>
            </a:r>
          </a:p>
        </p:txBody>
      </p:sp>
      <p:sp>
        <p:nvSpPr>
          <p:cNvPr id="5" name="Arrow anchor">
            <a:extLst xmlns:a="http://schemas.openxmlformats.org/drawingml/2006/main">
              <a:ext uri="{FF2B5EF4-FFF2-40B4-BE49-F238E27FC236}">
                <a16:creationId xmlns:a16="http://schemas.microsoft.com/office/drawing/2014/main" id="{DA331A09-82B1-41EF-8D55-2F6AD73A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588" y="59388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" name="Arrow anchor">
            <a:extLst xmlns:a="http://schemas.openxmlformats.org/drawingml/2006/main">
              <a:ext uri="{FF2B5EF4-FFF2-40B4-BE49-F238E27FC236}">
                <a16:creationId xmlns:a16="http://schemas.microsoft.com/office/drawing/2014/main" id="{64B4136E-FCCF-4EB2-87F6-4A59D7B5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3588" y="63198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2038351" y="5948363"/>
            <a:ext cx="0" cy="371475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86254"/>
            </a:solidFill>
            <a:tailEnd type="triangle" w="med" len="med"/>
          </a:ln>
        </p:spPr>
      </p:cxnSp>
      <p:sp>
        <p:nvSpPr>
          <p:cNvPr id="8" name="肌肉细胞">
            <a:extLst xmlns:a="http://schemas.openxmlformats.org/drawingml/2006/main">
              <a:ext uri="{FF2B5EF4-FFF2-40B4-BE49-F238E27FC236}">
                <a16:creationId xmlns:a16="http://schemas.microsoft.com/office/drawing/2014/main" id="{35D29FF0-5705-47DB-B8CE-C60F29FC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3435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肌肉细胞</a:t>
            </a:r>
          </a:p>
        </p:txBody>
      </p:sp>
      <p:sp>
        <p:nvSpPr>
          <p:cNvPr id="9" name="Arrow anchor">
            <a:extLst xmlns:a="http://schemas.openxmlformats.org/drawingml/2006/main">
              <a:ext uri="{FF2B5EF4-FFF2-40B4-BE49-F238E27FC236}">
                <a16:creationId xmlns:a16="http://schemas.microsoft.com/office/drawing/2014/main" id="{8233C448-BDC6-4F41-90E8-D55869D8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13" y="59388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" name="Arrow anchor">
            <a:extLst xmlns:a="http://schemas.openxmlformats.org/drawingml/2006/main">
              <a:ext uri="{FF2B5EF4-FFF2-40B4-BE49-F238E27FC236}">
                <a16:creationId xmlns:a16="http://schemas.microsoft.com/office/drawing/2014/main" id="{D9FD0B21-A348-46DC-AAE6-49A81E13C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0238" y="63198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2" name="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5719763" y="5943601"/>
            <a:ext cx="8953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86254"/>
            </a:solidFill>
            <a:tailEnd type="triangle" w="med" len="med"/>
          </a:ln>
        </p:spPr>
      </p:cxnSp>
      <p:sp>
        <p:nvSpPr>
          <p:cNvPr id="12" name="上皮细胞">
            <a:extLst xmlns:a="http://schemas.openxmlformats.org/drawingml/2006/main">
              <a:ext uri="{FF2B5EF4-FFF2-40B4-BE49-F238E27FC236}">
                <a16:creationId xmlns:a16="http://schemas.microsoft.com/office/drawing/2014/main" id="{2EADDF9D-74F2-4A1A-8737-BCC59A13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435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上皮细胞</a:t>
            </a:r>
          </a:p>
        </p:txBody>
      </p:sp>
      <p:sp>
        <p:nvSpPr>
          <p:cNvPr id="13" name="Arrow anchor">
            <a:extLst xmlns:a="http://schemas.openxmlformats.org/drawingml/2006/main">
              <a:ext uri="{FF2B5EF4-FFF2-40B4-BE49-F238E27FC236}">
                <a16:creationId xmlns:a16="http://schemas.microsoft.com/office/drawing/2014/main" id="{B0F405AF-03A3-4975-BD9F-1F0617E0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6488" y="59388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Arrow anchor">
            <a:extLst xmlns:a="http://schemas.openxmlformats.org/drawingml/2006/main">
              <a:ext uri="{FF2B5EF4-FFF2-40B4-BE49-F238E27FC236}">
                <a16:creationId xmlns:a16="http://schemas.microsoft.com/office/drawing/2014/main" id="{90FA7622-D2FB-4067-9D32-3AE7274E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631983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6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9396413" y="5943601"/>
            <a:ext cx="60007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186254"/>
            </a:solidFill>
            <a:tailEnd type="triangle" w="med" len="med"/>
          </a:ln>
        </p:spPr>
      </p:cxnSp>
      <p:sp>
        <p:nvSpPr>
          <p:cNvPr id="16" name="比较同一种 RNA 在三类细胞中的相对丰度">
            <a:extLst xmlns:a="http://schemas.openxmlformats.org/drawingml/2006/main">
              <a:ext uri="{FF2B5EF4-FFF2-40B4-BE49-F238E27FC236}">
                <a16:creationId xmlns:a16="http://schemas.microsoft.com/office/drawing/2014/main" id="{5683EE1C-2F36-4B50-8DA3-4F3EE7C2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0557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比较同一种 RNA 在三类细胞中的相对丰度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400050" y="7162800"/>
          <a:ext xmlns:a="http://schemas.openxmlformats.org/drawingml/2006/main" cx="32766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cb70eae7164f83"/>
          </a:graphicData>
        </a:graphic>
      </p:graphicFrame>
      <p:graphicFrame>
        <p:nvGraphicFramePr>
          <p:cNvPr id="39" name="Chart"/>
          <p:cNvGraphicFramePr/>
          <p:nvPr/>
        </p:nvGraphicFramePr>
        <p:xfrm>
          <a:off xmlns:a="http://schemas.openxmlformats.org/drawingml/2006/main" x="4076700" y="7162800"/>
          <a:ext xmlns:a="http://schemas.openxmlformats.org/drawingml/2006/main" cx="32766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4a1efd121d54d3f"/>
          </a:graphicData>
        </a:graphic>
      </p:graphicFrame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7753350" y="7162800"/>
          <a:ext xmlns:a="http://schemas.openxmlformats.org/drawingml/2006/main" cx="327660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d0be393cc84a7a"/>
          </a:graphicData>
        </a:graphic>
      </p:graphicFrame>
      <p:sp>
        <p:nvSpPr>
          <p:cNvPr id="20" name="共有的 RNA 仍然存在，变化的是各类 RNA 的丰度组合。">
            <a:extLst xmlns:a="http://schemas.openxmlformats.org/drawingml/2006/main">
              <a:ext uri="{FF2B5EF4-FFF2-40B4-BE49-F238E27FC236}">
                <a16:creationId xmlns:a16="http://schemas.microsoft.com/office/drawing/2014/main" id="{2A335B3E-846C-4D77-ABDF-2844901F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829925"/>
            <a:ext cx="1038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186254"/>
                </a:solidFill>
                <a:latin typeface="Hiragino Sans GB"/>
                <a:ea typeface="Hiragino Sans GB"/>
                <a:cs typeface="Hiragino Sans GB"/>
              </a:rPr>
              <a:t>共有的 RNA 仍然存在，变化的是各类 RNA 的丰度组合。</a:t>
            </a:r>
          </a:p>
        </p:txBody>
      </p:sp>
      <p:sp>
        <p:nvSpPr>
          <p:cNvPr id="21" name="A–D 为示意标签；条形长度和数字不代表实测值。">
            <a:extLst xmlns:a="http://schemas.openxmlformats.org/drawingml/2006/main">
              <a:ext uri="{FF2B5EF4-FFF2-40B4-BE49-F238E27FC236}">
                <a16:creationId xmlns:a16="http://schemas.microsoft.com/office/drawing/2014/main" id="{B9FE4514-F080-4E67-AF94-69942C18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490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5E72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5E726D"/>
                </a:solidFill>
                <a:latin typeface="Hiragino Sans GB"/>
                <a:ea typeface="Hiragino Sans GB"/>
                <a:cs typeface="Hiragino Sans GB"/>
              </a:rPr>
              <a:t>A–D 为示意标签；条形长度和数字不代表实测值。</a:t>
            </a:r>
          </a:p>
        </p:txBody>
      </p:sp>
    </p:spTree>
    <p:extLst>
      <p:ext uri="{BB962C8B-B14F-4D97-AF65-F5344CB8AC3E}">
        <p14:creationId xmlns:p14="http://schemas.microsoft.com/office/powerpoint/2010/main" val="11967123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2026-10-12T08:07:15.8400000Z</dcterms:created>
  <dcterms:modified xsi:type="dcterms:W3CDTF">2026-10-12T08:07:15.8400000Z</dcterms:modified>
</coreProperties>
</file>